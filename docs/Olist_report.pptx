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13"/>
    <p:sldId id="268" r:id="rId14"/>
    <p:sldId id="269" r:id="rId15"/>
    <p:sldId id="270" r:id="rId16"/>
    <p:sldId id="272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3" d="100"/>
          <a:sy n="103" d="100"/>
        </p:scale>
        <p:origin x="2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042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852160" cy="51435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85216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ANALYTICS &amp; BI PROJECT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E-Commerce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 E-Commerce Data · Python · PostgreSQL · Power BI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401568"/>
            <a:ext cx="1207008" cy="310896"/>
          </a:xfrm>
          <a:prstGeom prst="rect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340156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3401568"/>
            <a:ext cx="1207008" cy="310896"/>
          </a:xfrm>
          <a:prstGeom prst="rect">
            <a:avLst/>
          </a:prstGeom>
          <a:solidFill>
            <a:srgbClr val="48CAE4">
              <a:alpha val="25000"/>
            </a:srgbClr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01368" y="340156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9816" y="3401568"/>
            <a:ext cx="1207008" cy="310896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99816" y="340156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98264" y="3401568"/>
            <a:ext cx="1207008" cy="310896"/>
          </a:xfrm>
          <a:prstGeom prst="rect">
            <a:avLst/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98264" y="340156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72200" y="502920"/>
            <a:ext cx="27432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72200" y="5760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172200" y="1069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1618488"/>
            <a:ext cx="27432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72200" y="1691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R$ 13.6M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172200" y="2185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GMV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2734056"/>
            <a:ext cx="27432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72200" y="280720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Pages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17220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27432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72200" y="392277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Tables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172200" y="4416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By Hadi Assi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724912" cy="37490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37490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0515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508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marketplace needed clarity on revenue performance, customer retention, and logistics efficiency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30352" y="2313432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transactional CSV data with no centralised analytics layer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30352" y="3118104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KPI visibility for executive decision-making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724912" cy="37490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960120"/>
            <a:ext cx="64008" cy="3749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0515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1508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raw data → clean warehouse → interactive dashboard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0" y="2313432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~99,000 orders from Oct 2016 – Sep 2018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0" y="3118104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major analytics domains: revenue, customers, products, logistics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53328" y="960120"/>
            <a:ext cx="2724912" cy="37490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53328" y="960120"/>
            <a:ext cx="64008" cy="3749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36208" y="10515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508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 in Python with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36208" y="2313432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star schema warehouse ready for BI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36208" y="3118104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4-page Power BI dashboard with 20+ KPIs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36208" y="3922776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business insights for stakeholders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Portfolio-grade project demonstrating the full data analyst &amp; analytics engineer toolkit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 — Olist Brazilian E-Commerce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4114800" cy="219456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2194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Dataset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Olist dataset is a real-world Brazilian e-commerce dataset published on Kaggle. It covers anonymised orders from the Olist marketplace connector, which allows small merchants to sell through major Brazilian platforms.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October 2016 – September 2018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1920240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024128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~99,441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1527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39712" y="960120"/>
            <a:ext cx="1920240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39712" y="1024128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~96,096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39712" y="1527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2039112"/>
            <a:ext cx="1920240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210312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~32,951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0" y="2606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39712" y="2039112"/>
            <a:ext cx="1920240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39712" y="210312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R$ 13.6M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39712" y="2606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GMV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7472" y="3291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Tables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7472" y="3657600"/>
            <a:ext cx="202996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" y="3730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olist_customers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~99,441 rows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38912" y="427939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identities &amp; locations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23744" y="3657600"/>
            <a:ext cx="202996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615184" y="3730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olist_orders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615184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~99,441 rows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615184" y="427939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lifecycle &amp; status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0016" y="3657600"/>
            <a:ext cx="202996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91456" y="3730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olist_order_items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91456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~112,650 rows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91456" y="427939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items, pricing, sellers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76288" y="3657600"/>
            <a:ext cx="202996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967728" y="3730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olist_products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67728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~32,951 rows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67728" y="427939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catalogue &amp; attributes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Pipeline Overview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1280160"/>
            <a:ext cx="1426464" cy="2286000"/>
          </a:xfrm>
          <a:prstGeom prst="rect">
            <a:avLst/>
          </a:prstGeom>
          <a:solidFill>
            <a:srgbClr val="1E3A5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1280160"/>
            <a:ext cx="1426464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144475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Acquire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0624" y="1938528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API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755648" y="2400300"/>
            <a:ext cx="219456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01952" y="2331720"/>
            <a:ext cx="73152" cy="18288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56816" y="1280160"/>
            <a:ext cx="1426464" cy="2286000"/>
          </a:xfrm>
          <a:prstGeom prst="rect">
            <a:avLst/>
          </a:prstGeom>
          <a:solidFill>
            <a:srgbClr val="1E3A5F"/>
          </a:solidFill>
          <a:ln w="254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56816" y="1280160"/>
            <a:ext cx="1426464" cy="73152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11680" y="144475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Clean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29968" y="1938528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Pandas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handling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4992" y="2400300"/>
            <a:ext cx="219456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511296" y="2331720"/>
            <a:ext cx="73152" cy="1828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566160" y="1280160"/>
            <a:ext cx="1426464" cy="2286000"/>
          </a:xfrm>
          <a:prstGeom prst="rect">
            <a:avLst/>
          </a:prstGeom>
          <a:solidFill>
            <a:srgbClr val="1E3A5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566160" y="1280160"/>
            <a:ext cx="1426464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21024" y="144475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9312" y="1938528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tables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ingest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74336" y="2400300"/>
            <a:ext cx="219456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120640" y="2331720"/>
            <a:ext cx="73152" cy="1828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75504" y="1280160"/>
            <a:ext cx="1426464" cy="2286000"/>
          </a:xfrm>
          <a:prstGeom prst="rect">
            <a:avLst/>
          </a:prstGeom>
          <a:solidFill>
            <a:srgbClr val="1E3A5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175504" y="1280160"/>
            <a:ext cx="1426464" cy="7315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30368" y="144475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48656" y="1938528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&amp; Fact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400300"/>
            <a:ext cx="219456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729984" y="2331720"/>
            <a:ext cx="73152" cy="1828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784848" y="1280160"/>
            <a:ext cx="1426464" cy="2286000"/>
          </a:xfrm>
          <a:prstGeom prst="rect">
            <a:avLst/>
          </a:prstGeom>
          <a:solidFill>
            <a:srgbClr val="1E3A5F"/>
          </a:solidFill>
          <a:ln w="254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784848" y="1280160"/>
            <a:ext cx="1426464" cy="7315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39712" y="144475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Visualise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1938528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Dashboard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3794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automated, validated, and documented — production-grade pipeline design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7472" y="4206240"/>
            <a:ext cx="1554480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47472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048256" y="4206240"/>
            <a:ext cx="1554480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048256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749040" y="4206240"/>
            <a:ext cx="1554480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749040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49824" y="4206240"/>
            <a:ext cx="1554480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49824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150608" y="4206240"/>
            <a:ext cx="1554480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150608" y="4206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Transformation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3931920" cy="38404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38404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&amp; Fixed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1508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Timestamps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7647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undelivered orders had null delivery dates — retained as valid lifecycle nulls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313432"/>
            <a:ext cx="73152" cy="5943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3134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Nulls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8368" y="25694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~610 products had no category — imputed as 'uncategorized' to preserve revenue data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118104"/>
            <a:ext cx="73152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31181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Dates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8368" y="33741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rows with estimated delivery before purchase — removed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922776"/>
            <a:ext cx="73152" cy="594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8368" y="392277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Name Casing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" y="41788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Mixed-case city names standardised; whitespace stripped from all string fields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62272" y="960120"/>
            <a:ext cx="4315968" cy="18288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462272" y="960120"/>
            <a:ext cx="64008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45152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Post-Cleaning Summary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62272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Dropped: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79592" y="14813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38544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Corrected: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55864" y="14813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3–5%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62272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Revenue/Payment Match: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79592" y="18105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38544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Found: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055864" y="18105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62272" y="2926080"/>
            <a:ext cx="4315968" cy="187452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462272" y="2926080"/>
            <a:ext cx="64008" cy="18745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45152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645152" y="3429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delivery_duration_days  (delivered − purchased)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45152" y="37398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is_late_delivery  (delivered &gt; estimated)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45152" y="40507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order_revenue  (sum of item prices per order)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645152" y="4361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order_freight  (sum of freight per order)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Warehouse Design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743200" cy="3858768"/>
          </a:xfrm>
          <a:prstGeom prst="rect">
            <a:avLst/>
          </a:prstGeom>
          <a:solidFill>
            <a:srgbClr val="132238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2743200" cy="475488"/>
          </a:xfrm>
          <a:prstGeom prst="rect">
            <a:avLst/>
          </a:prstGeom>
          <a:solidFill>
            <a:srgbClr val="94A3B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CSV data loaded as-is into PostgreSQL staging tables. No transformations. Acts as an immutable source of truth for replay.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12064" y="2560320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12064" y="256032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stg_customers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2064" y="3072384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" y="307238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stg_orders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2064" y="3584448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" y="358444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stg_order_items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" y="4096512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" y="409651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stg_products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743200" cy="3858768"/>
          </a:xfrm>
          <a:prstGeom prst="rect">
            <a:avLst/>
          </a:prstGeom>
          <a:solidFill>
            <a:srgbClr val="132238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2743200" cy="475488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TABLES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55848" y="1508760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Cleansed, business-friendly lookup tables. Each dimension has a surrogate key (SK) for warehouse integrity.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10712" y="2560320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10712" y="256032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10712" y="3072384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10712" y="307238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10712" y="3584448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10712" y="358444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10712" y="4096512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10712" y="409651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44768" y="960120"/>
            <a:ext cx="2743200" cy="3858768"/>
          </a:xfrm>
          <a:prstGeom prst="rect">
            <a:avLst/>
          </a:prstGeom>
          <a:solidFill>
            <a:srgbClr val="132238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44768" y="960120"/>
            <a:ext cx="2743200" cy="475488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236208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54496" y="1508760"/>
            <a:ext cx="2523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fact tables by grain: order-level for KPIs and item-level for category/product analytics.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309360" y="2560320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9360" y="256032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3072384"/>
            <a:ext cx="2414016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09360" y="307238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108960" y="2852928"/>
            <a:ext cx="137160" cy="36576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007608" y="2852928"/>
            <a:ext cx="137160" cy="36576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— Dimensional Model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749040" y="1325880"/>
            <a:ext cx="2377440" cy="1920240"/>
          </a:xfrm>
          <a:prstGeom prst="rect">
            <a:avLst/>
          </a:prstGeom>
          <a:solidFill>
            <a:srgbClr val="1E3A5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749040" y="1325880"/>
            <a:ext cx="2377440" cy="384048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749040" y="13807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58768" y="178308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order_sk (PK)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58768" y="198424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customer_sk (FK)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58768" y="218541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purchase_date_key (FK)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58768" y="238658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order_revenue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58768" y="258775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order_freight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58768" y="278892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delivery_duration_days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858768" y="299008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is_late_delivery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914400"/>
            <a:ext cx="2084832" cy="1371600"/>
          </a:xfrm>
          <a:prstGeom prst="rect">
            <a:avLst/>
          </a:prstGeom>
          <a:solidFill>
            <a:srgbClr val="132238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914400"/>
            <a:ext cx="2084832" cy="329184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" y="95097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131673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customer_sk (PK)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157276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customer_city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5760" y="182880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customer_state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359152" y="1581912"/>
            <a:ext cx="1389888" cy="36576"/>
          </a:xfrm>
          <a:prstGeom prst="rect">
            <a:avLst/>
          </a:prstGeom>
          <a:solidFill>
            <a:srgbClr val="00B4D8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2084832" cy="1371600"/>
          </a:xfrm>
          <a:prstGeom prst="rect">
            <a:avLst/>
          </a:prstGeom>
          <a:solidFill>
            <a:srgbClr val="132238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3017520"/>
            <a:ext cx="2084832" cy="329184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" y="30540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334842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date_key (PK)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54626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full_date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47472" y="3783269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47472" y="399370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4168305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59152" y="3685032"/>
            <a:ext cx="1389888" cy="36576"/>
          </a:xfrm>
          <a:prstGeom prst="rect">
            <a:avLst/>
          </a:prstGeom>
          <a:solidFill>
            <a:srgbClr val="00B4D8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766560" y="914400"/>
            <a:ext cx="2084832" cy="1371600"/>
          </a:xfrm>
          <a:prstGeom prst="rect">
            <a:avLst/>
          </a:prstGeom>
          <a:solidFill>
            <a:srgbClr val="132238"/>
          </a:solidFill>
          <a:ln w="1905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766560" y="914400"/>
            <a:ext cx="2084832" cy="329184"/>
          </a:xfrm>
          <a:prstGeom prst="rect">
            <a:avLst/>
          </a:prstGeom>
          <a:solidFill>
            <a:srgbClr val="48CAE4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39712" y="95097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131673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product_sk (PK)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858000" y="157276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category_name_english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858000" y="182880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avg_price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26480" y="1581912"/>
            <a:ext cx="640080" cy="36576"/>
          </a:xfrm>
          <a:prstGeom prst="rect">
            <a:avLst/>
          </a:prstGeom>
          <a:solidFill>
            <a:srgbClr val="48CAE4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766560" y="3017520"/>
            <a:ext cx="2084832" cy="1371600"/>
          </a:xfrm>
          <a:prstGeom prst="rect">
            <a:avLst/>
          </a:prstGeom>
          <a:solidFill>
            <a:srgbClr val="132238"/>
          </a:solidFill>
          <a:ln w="1905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766560" y="3017520"/>
            <a:ext cx="2084832" cy="329184"/>
          </a:xfrm>
          <a:prstGeom prst="rect">
            <a:avLst/>
          </a:prstGeom>
          <a:solidFill>
            <a:srgbClr val="48CAE4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39712" y="30540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858000" y="341985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seller_sk (PK)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858000" y="367588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seller_city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858000" y="39319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seller_state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26480" y="3685032"/>
            <a:ext cx="640080" cy="36576"/>
          </a:xfrm>
          <a:prstGeom prst="rect">
            <a:avLst/>
          </a:prstGeom>
          <a:solidFill>
            <a:srgbClr val="48CAE4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30752" y="3527978"/>
            <a:ext cx="2377440" cy="548640"/>
          </a:xfrm>
          <a:prstGeom prst="rect">
            <a:avLst/>
          </a:prstGeom>
          <a:solidFill>
            <a:srgbClr val="1E3A5F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712464" y="3543053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  (item grain)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712464" y="379315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category analytics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919472" y="3246120"/>
            <a:ext cx="36576" cy="265176"/>
          </a:xfrm>
          <a:prstGeom prst="rect">
            <a:avLst/>
          </a:prstGeom>
          <a:solidFill>
            <a:srgbClr val="10B981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Design — Metrics That Drive Decisions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029968" cy="38404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38404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1024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12064" y="1463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(GMV)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12064" y="20299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 (AOV)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2064" y="25968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MoM / YoY Growth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12064" y="316382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YTD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12064" y="37307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 Value (incl. freight)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23744" y="960120"/>
            <a:ext cx="2029968" cy="38404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523744" y="960120"/>
            <a:ext cx="64008" cy="3840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88336" y="1024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Customers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88336" y="1463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88336" y="20299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88336" y="25968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 Rate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88336" y="316382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Customer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88336" y="37307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Orders per Customer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0016" y="960120"/>
            <a:ext cx="2029968" cy="38404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0016" y="960120"/>
            <a:ext cx="64008" cy="3840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64608" y="1024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Ops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64608" y="1463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64608" y="20299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%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64608" y="25968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Duration (days)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 vs On-Time Days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64608" y="37307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 Orders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76288" y="960120"/>
            <a:ext cx="2029968" cy="38404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76288" y="960120"/>
            <a:ext cx="64008" cy="38404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40880" y="10241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0880" y="1463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Revenue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40880" y="20299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Revenue % of Total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40880" y="25968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Item Price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040880" y="316382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Items Sold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040880" y="37307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Products Sold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7472" y="4709160"/>
            <a:ext cx="8449056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47472" y="4727448"/>
            <a:ext cx="8449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KPIs implemented as DAX measures in Power BI with semantic model relationships — see DAX_measures.md for full reference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Page 1: Executive Overview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87552"/>
            <a:ext cx="1600200" cy="1005840"/>
          </a:xfrm>
          <a:prstGeom prst="rect">
            <a:avLst/>
          </a:prstGeom>
          <a:solidFill>
            <a:srgbClr val="13223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87552"/>
            <a:ext cx="16002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09728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R$ 13.6M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47472" y="1517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47472" y="17373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+8.3% avg MoM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084832" y="987552"/>
            <a:ext cx="1600200" cy="1005840"/>
          </a:xfrm>
          <a:prstGeom prst="rect">
            <a:avLst/>
          </a:prstGeom>
          <a:solidFill>
            <a:srgbClr val="132238"/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084832" y="987552"/>
            <a:ext cx="1600200" cy="64008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84832" y="109728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99,441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084832" y="1517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084832" y="17373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2016 – Sep 2018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822192" y="987552"/>
            <a:ext cx="1600200" cy="1005840"/>
          </a:xfrm>
          <a:prstGeom prst="rect">
            <a:avLst/>
          </a:prstGeom>
          <a:solidFill>
            <a:srgbClr val="13223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22192" y="987552"/>
            <a:ext cx="160020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22192" y="109728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R$ 137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22192" y="1517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22192" y="17373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cancelled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559552" y="987552"/>
            <a:ext cx="1600200" cy="1005840"/>
          </a:xfrm>
          <a:prstGeom prst="rect">
            <a:avLst/>
          </a:prstGeom>
          <a:solidFill>
            <a:srgbClr val="132238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559552" y="987552"/>
            <a:ext cx="1600200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559552" y="109728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92.3%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559552" y="1517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559552" y="17373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−7.7% late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47472" y="2148840"/>
            <a:ext cx="5394960" cy="263347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47472" y="2148840"/>
            <a:ext cx="64008" cy="263347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22402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Trend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233672" y="451367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Black Friday spike →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30352" y="489204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2016 – Sep 2018  |  Monthly revenue in BRL (scaled)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925312" y="2148840"/>
            <a:ext cx="2852928" cy="263347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925312" y="2148840"/>
            <a:ext cx="64008" cy="2633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108192" y="2240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 Categories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108192" y="2670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Beauty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90688" y="2734056"/>
            <a:ext cx="1005840" cy="1645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790688" y="2734056"/>
            <a:ext cx="922020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8631936" y="26700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108192" y="3090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&amp; Gifts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90688" y="3154680"/>
            <a:ext cx="1005840" cy="1645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790688" y="3154680"/>
            <a:ext cx="838200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8631936" y="309067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108192" y="35112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Bed, Bath &amp; Table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90688" y="3575304"/>
            <a:ext cx="1005840" cy="1645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790688" y="3575304"/>
            <a:ext cx="754380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8631936" y="35112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6108192" y="3931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&amp; Leisure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90688" y="3995928"/>
            <a:ext cx="1005840" cy="1645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790688" y="3995928"/>
            <a:ext cx="670560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8631936" y="39319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6108192" y="43525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&amp; Acc.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790688" y="4416552"/>
            <a:ext cx="1005840" cy="1645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7790688" y="4416552"/>
            <a:ext cx="586740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8631936" y="435254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925312" y="484632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includes slicers for: year, quarter, state, category</a:t>
            </a:r>
            <a:endParaRPr lang="en-US" sz="850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2F51270-DC84-8CBF-6496-EDA59BFE3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75" y="2491951"/>
            <a:ext cx="5022321" cy="20223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Page 2: Sales &amp; Products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1920240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192024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069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$ 15.8M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47472" y="1490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Iitem revenue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95728" y="960120"/>
            <a:ext cx="1920240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95728" y="960120"/>
            <a:ext cx="1920240" cy="64008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95728" y="1069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95728" y="1490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Sold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95728" y="17099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delivered orders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43984" y="960120"/>
            <a:ext cx="1920240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3984" y="960120"/>
            <a:ext cx="192024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43984" y="1069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443984" y="1490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Item Price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43984" y="17099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categories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492240" y="960120"/>
            <a:ext cx="2304288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960120"/>
            <a:ext cx="2304288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106984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3k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92240" y="1490472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5120640" cy="27432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64008" cy="2743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0352" y="21945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 — Top 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2578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Beauty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0" y="2606040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286000" y="2606040"/>
            <a:ext cx="3185160" cy="14630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806440" y="257860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2920" y="27980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&amp; Gifts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86000" y="2825496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286000" y="2825496"/>
            <a:ext cx="2953512" cy="14630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806440" y="279806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3017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Bed, Bath &amp; Table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86000" y="3044952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286000" y="3044952"/>
            <a:ext cx="2634996" cy="14630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806440" y="301752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9.1%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2920" y="32369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&amp; Leisure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86000" y="3264408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286000" y="3264408"/>
            <a:ext cx="2403348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806440" y="323697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3456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&amp; Acc.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286000" y="3483864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286000" y="3483864"/>
            <a:ext cx="2055876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806440" y="345643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7.1%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2920" y="36758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 &amp; Decor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286000" y="3703320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286000" y="3703320"/>
            <a:ext cx="1969008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806440" y="36758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" y="38953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Tools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286000" y="3922776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286000" y="3922776"/>
            <a:ext cx="1216152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806440" y="389534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4.2%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02920" y="4114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286000" y="4142232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2286000" y="4142232"/>
            <a:ext cx="1129284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806440" y="41148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3.9%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02920" y="43342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286000" y="4361688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2286000" y="4361688"/>
            <a:ext cx="1013460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806440" y="433425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3.5%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0292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Bags &amp; Acc.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286000" y="4581144"/>
            <a:ext cx="3474720" cy="14630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286000" y="4581144"/>
            <a:ext cx="897636" cy="146304"/>
          </a:xfrm>
          <a:prstGeom prst="rect">
            <a:avLst/>
          </a:prstGeom>
          <a:solidFill>
            <a:srgbClr val="48CAE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806440" y="455371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3.1%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650992" y="2103120"/>
            <a:ext cx="3127248" cy="126187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5650992" y="2103120"/>
            <a:ext cx="64008" cy="12618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833872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Insights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833872" y="2542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3,095 unique sellers on platform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833872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10% of sellers → ~50% of GMV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833872" y="3090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Multi-seller orders: ~1% of all orders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650992" y="3493008"/>
            <a:ext cx="3127248" cy="1353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650992" y="3493008"/>
            <a:ext cx="64008" cy="135331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833872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Insights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833872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10 categories &lt; 2% of GMV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833872" y="41696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High-volume/low-value: Stationery, Garden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833872" y="44074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outliers: orders up to R$ 13,440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33872" y="46451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~610 products mapped to 'uncategorized'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Page 3: Customer Analytics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2084832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47472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0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960120"/>
            <a:ext cx="2084832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0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cs typeface="Calibri" pitchFamily="34" charset="-120"/>
              </a:rPr>
              <a:t>~1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60320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cs typeface="Calibri" pitchFamily="34" charset="-120"/>
              </a:rPr>
              <a:t>Order/Customer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73168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73168" y="960120"/>
            <a:ext cx="2084832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73168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cs typeface="Calibri" pitchFamily="34" charset="-120"/>
              </a:rPr>
              <a:t>$137.75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73168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/ Customer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986016" y="960120"/>
            <a:ext cx="1828800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986016" y="960120"/>
            <a:ext cx="1828800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86016" y="10698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cs typeface="Calibri" pitchFamily="34" charset="-120"/>
              </a:rPr>
              <a:t>137.75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86016" y="1490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cs typeface="Calibri" pitchFamily="34" charset="-120"/>
              </a:rPr>
              <a:t>AOV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023360" cy="27432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64008" cy="2743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0352" y="2194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Revenue Distribution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2578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— São Paulo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12848" y="263347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212848" y="2633472"/>
            <a:ext cx="2389632" cy="1828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28032" y="257860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2944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RJ — Rio de Janeiro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212848" y="299923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212848" y="2999232"/>
            <a:ext cx="739648" cy="18288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28032" y="2944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02920" y="3310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— Minas Gerais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212848" y="336499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212848" y="3364992"/>
            <a:ext cx="682752" cy="18288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28032" y="33101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— Rio Grande do Sul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12848" y="373075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212848" y="3730752"/>
            <a:ext cx="341376" cy="1828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28032" y="367588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02920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— Paraná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12848" y="409651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212848" y="4096512"/>
            <a:ext cx="284480" cy="1828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828032" y="404164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02920" y="4407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12848" y="4462272"/>
            <a:ext cx="2560320" cy="1828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212848" y="4462272"/>
            <a:ext cx="1251712" cy="1828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828032" y="440740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553712" y="2103120"/>
            <a:ext cx="4224528" cy="132588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553712" y="2103120"/>
            <a:ext cx="64008" cy="13258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36592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736592" y="2542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customers made only ONE purchase — high acquisition dependency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736592" y="28163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installments dominant; avg ~3 months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36592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buyers have higher AOV than cash buyers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53712" y="3566160"/>
            <a:ext cx="4224528" cy="128016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553712" y="3566160"/>
            <a:ext cx="64008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736592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Opportunity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736592" y="4005072"/>
            <a:ext cx="3291840" cy="20116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101584" y="40050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Customers  96,096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736592" y="4279392"/>
            <a:ext cx="658368" cy="201168"/>
          </a:xfrm>
          <a:prstGeom prst="rect">
            <a:avLst/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468112" y="42793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2nd Order  2,883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736592" y="4553712"/>
            <a:ext cx="109728" cy="201168"/>
          </a:xfrm>
          <a:prstGeom prst="rect">
            <a:avLst/>
          </a:prstGeom>
          <a:solidFill>
            <a:srgbClr val="10B981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919472" y="45537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3rd Order  288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736592" y="46451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2–3% improvement in 90-day repeat rate → +R$ 400–600K GMV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Page 4: Delivery &amp; Logistics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2084832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7472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347472" y="1709928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95%+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560320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960120"/>
            <a:ext cx="2084832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0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560320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60320" y="1709928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14% in Nov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773168" y="960120"/>
            <a:ext cx="2084832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73168" y="960120"/>
            <a:ext cx="2084832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73168" y="1069848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12.0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d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73168" y="149047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73168" y="1709928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All delivered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986016" y="960120"/>
            <a:ext cx="1828800" cy="98755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986016" y="960120"/>
            <a:ext cx="182880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86016" y="10698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cs typeface="Calibri" pitchFamily="34" charset="-120"/>
              </a:rPr>
              <a:t>99k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986016" y="1490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-120"/>
              </a:rPr>
              <a:t>Total orders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5120640" cy="2761488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64008" cy="27614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0352" y="21945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Delivery Duration Distribution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5650992" y="2374613"/>
            <a:ext cx="155448" cy="221850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5EF4285-B91B-93BD-8CC7-D4BFFD404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523744"/>
            <a:ext cx="4473146" cy="224920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629D279-13F6-8FD6-3C96-2DAFF95A6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9620" y="2374613"/>
            <a:ext cx="3154062" cy="22185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Insights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4187952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1088136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87552" y="10881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 Dominance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" y="150876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2017 revenue was ~2.4× the October baseline — the single largest month in the dataset. Q4 logistics pressure is the biggest operational risk.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0016" y="960120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0016" y="960120"/>
            <a:ext cx="4187952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37176" y="1088136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40096" y="10881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Concentration 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37176" y="150876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all revenue comes from SP. The North &amp; Northeast regions are under-served relative to population — demand exists but freight cost suppresses conversion.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633472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472" y="2633472"/>
            <a:ext cx="4187952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276148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87552" y="27614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Crisis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" y="3182112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3% of customers return for a second purchase. The business is almost entirely acquisition-driven — a structured post-purchase email programme could add R$ 400–600K to annual GMV.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00016" y="2633472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0016" y="2633472"/>
            <a:ext cx="4187952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37176" y="276148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340096" y="27614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Is Improving But Lagging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7176" y="3182112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fell from 15 to 10 days over 2 years. On-time rate of 92.3% remains below the 95%+ e-commerce benchmark, especially in remote regions.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4306824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4306824"/>
            <a:ext cx="4187952" cy="6400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" y="4434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87552" y="4434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Concentration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" y="4855464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categories account for ~45% of GMV. Bottom 10 categories generate &lt; 2% combined — candidates for rationalisation to reduce operational overhead.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0016" y="4306824"/>
            <a:ext cx="4187952" cy="1536192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0016" y="4306824"/>
            <a:ext cx="4187952" cy="64008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37176" y="4434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340096" y="4434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Installments Drive Basket Size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37176" y="4855464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installment payments dominate (~3 months avg). Customers using installments show measurably higher AOV — promoting installments in high-value categories could lift revenue.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8449056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9144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225296"/>
            <a:ext cx="1188720" cy="310896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105156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25272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columns stored as VARCHAR in source CSVs. Required explicit parsing with error handling to avoid silent failures.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74920" y="1389888"/>
            <a:ext cx="2743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23444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40680" y="105156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40680" y="12527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`pd.to_datetime()` with `errors='coerce'` and post-parse validation to catch and flag unparseable values.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7472" y="1965960"/>
            <a:ext cx="8449056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472" y="1965960"/>
            <a:ext cx="64008" cy="9144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2231136"/>
            <a:ext cx="1188720" cy="310896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23113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 Grain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74520" y="20574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874520" y="225856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design used only order-grain (fact_orders). Product/category analytics were impossible — aggregations crossed the wrong grain.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74920" y="2395728"/>
            <a:ext cx="2743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22402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40680" y="205740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40680" y="22585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a second fact table (fact_order_items) at item grain. fact_orders retained for KPI cards; fact_order_items used for all product analytics.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47472" y="2971800"/>
            <a:ext cx="8449056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2971800"/>
            <a:ext cx="64008" cy="9144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1188720" cy="310896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32369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Relationships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874520" y="30632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74520" y="326440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 needed a date dimension link but shared purchase_date_key with fact_orders, causing ambiguous relationship errors.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74920" y="3401568"/>
            <a:ext cx="274320" cy="36576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74920" y="32461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30632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440680" y="32644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inactive relationships with USERELATIONSHIP() in DAX for item-level date filtering. Bidirectional cross-filter disabled globally to avoid fan-trap issues.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47472" y="3977640"/>
            <a:ext cx="8449056" cy="91440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47472" y="3977640"/>
            <a:ext cx="64008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2920" y="4242816"/>
            <a:ext cx="1188720" cy="310896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42428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Strategy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874520" y="406908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74520" y="427024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null delivery timestamps were initially flagged as errors, threatening to drop valid in-progress or cancelled orders.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074920" y="4407408"/>
            <a:ext cx="2743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74920" y="425196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440680" y="406908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440680" y="42702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Reclassified nulls as expected lifecycle states. Null = 'not yet reached this stage'. Delivery KPIs explicitly filtered to `order_status = 'delivered'`.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&amp; Tools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286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066544" cy="39776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960120"/>
            <a:ext cx="64008" cy="39776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10424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12064" y="1499616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85216" y="186537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dataset download via CLI authentication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12064" y="2615184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5216" y="26883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5216" y="2980944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scripting language across all pipeline stages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60320" y="960120"/>
            <a:ext cx="2066544" cy="39776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60320" y="960120"/>
            <a:ext cx="64008" cy="3977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24912" y="10424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24912" y="1499616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98064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98064" y="186537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 operations, null handling, feature engineering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24912" y="2615184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98064" y="26883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98064" y="2980944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operations and array-level validations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24912" y="3730752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98064" y="38039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98064" y="4096512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ORM-based PostgreSQL connection and table operations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73168" y="960120"/>
            <a:ext cx="2066544" cy="39776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73168" y="960120"/>
            <a:ext cx="64008" cy="3977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10424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937760" y="1499616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10912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10912" y="186537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relational warehouse with full SQL analytics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37760" y="2615184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10912" y="26883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(DDL/DML)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10912" y="2980944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dimension, and fact table creation &amp; population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986016" y="960120"/>
            <a:ext cx="2066544" cy="3977640"/>
          </a:xfrm>
          <a:prstGeom prst="rect">
            <a:avLst/>
          </a:prstGeom>
          <a:solidFill>
            <a:srgbClr val="1322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986016" y="960120"/>
            <a:ext cx="64008" cy="39776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150608" y="10424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&amp; Visualisation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150608" y="1499616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22376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223760" y="186537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4-page interactive dashboard with slicers and drill-through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150608" y="2615184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3760" y="26883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223760" y="2980944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custom measures: revenue, delivery, customer KPIs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150608" y="3730752"/>
            <a:ext cx="1719072" cy="987552"/>
          </a:xfrm>
          <a:prstGeom prst="rect">
            <a:avLst/>
          </a:prstGeom>
          <a:solidFill>
            <a:srgbClr val="1E3A5F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223760" y="38039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223760" y="4096512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modeling with surrogate keys &amp; relationships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are industry-standard for the modern data analyst &amp; analytics engineer stack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kern="0" spc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2395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0" y="2944368"/>
            <a:ext cx="2743200" cy="36576"/>
          </a:xfrm>
          <a:prstGeom prst="rect">
            <a:avLst/>
          </a:prstGeom>
          <a:solidFill>
            <a:srgbClr val="48CAE4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7280" y="3200400"/>
            <a:ext cx="2231136" cy="1481328"/>
          </a:xfrm>
          <a:prstGeom prst="rect">
            <a:avLst/>
          </a:prstGeom>
          <a:solidFill>
            <a:srgbClr val="13223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3200400"/>
            <a:ext cx="2231136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331012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Olist Brazilian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Public Dataset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84448" y="3200400"/>
            <a:ext cx="2231136" cy="1481328"/>
          </a:xfrm>
          <a:prstGeom prst="rect">
            <a:avLst/>
          </a:prstGeom>
          <a:solidFill>
            <a:srgbClr val="13223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84448" y="3200400"/>
            <a:ext cx="2231136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84448" y="331012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94176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PostgreSQL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Star Schema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3200400"/>
            <a:ext cx="2231136" cy="1481328"/>
          </a:xfrm>
          <a:prstGeom prst="rect">
            <a:avLst/>
          </a:prstGeom>
          <a:solidFill>
            <a:srgbClr val="132238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71616" y="3200400"/>
            <a:ext cx="2231136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71616" y="331012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1344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data_quality_report.md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DAX_measures.md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0" y="5020056"/>
            <a:ext cx="9144000" cy="1234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1810</Words>
  <Application>Microsoft Office PowerPoint</Application>
  <PresentationFormat>On-screen Show (16:9)</PresentationFormat>
  <Paragraphs>385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E-Commerce Analytics — Portfolio Presentation</dc:title>
  <dc:subject>PptxGenJS Presentation</dc:subject>
  <dc:creator>Analytics Engineering</dc:creator>
  <cp:lastModifiedBy>Hadi Assi</cp:lastModifiedBy>
  <cp:revision>5</cp:revision>
  <dcterms:created xsi:type="dcterms:W3CDTF">2026-05-28T20:20:39Z</dcterms:created>
  <dcterms:modified xsi:type="dcterms:W3CDTF">2026-05-28T21:28:28Z</dcterms:modified>
</cp:coreProperties>
</file>