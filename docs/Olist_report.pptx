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42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&amp; BI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Data · Python · PostgreSQL · Power BI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1207008" cy="310896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4015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3401568"/>
            <a:ext cx="1207008" cy="310896"/>
          </a:xfrm>
          <a:prstGeom prst="rect">
            <a:avLst/>
          </a:prstGeom>
          <a:solidFill>
            <a:srgbClr val="48CAE4">
              <a:alpha val="25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01368" y="34015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99816" y="3401568"/>
            <a:ext cx="1207008" cy="31089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9816" y="34015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8264" y="3401568"/>
            <a:ext cx="1207008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8264" y="34015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502920"/>
            <a:ext cx="2743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576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618488"/>
            <a:ext cx="2743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R$ 13.6M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2185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GMV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734056"/>
            <a:ext cx="2743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9624"/>
            <a:ext cx="2743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3922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By Hadi Assi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724912" cy="37490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3749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marketplace needed clarity on revenue performance, customer retention, and logistics efficiency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23134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CSV data with no centralised analytics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3118104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KPI visibility for executive decision-making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24912" cy="37490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64008" cy="3749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051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data → clean warehouse → interactive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3134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~99,000 orders from Oct 2016 – Sep 2018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3118104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analytics domains: revenue, customers, products, logistics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960120"/>
            <a:ext cx="2724912" cy="37490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960120"/>
            <a:ext cx="64008" cy="3749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051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508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in Python with validation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6208" y="23134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star schema warehouse ready for BI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6208" y="3118104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 with 20+ KPIs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6208" y="392277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insights for stakeholders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Portfolio-grade project demonstrating the full data analyst &amp; analytics engineer toolkit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Olist Brazilian E-Commerce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114800" cy="21945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Olist dataset is a real-world Brazilian e-commerce dataset published on Kaggle. It covers anonymised orders from the Olist marketplace connector, which allows small merchants to sell through major Brazilian platforms.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October 2016 – September 2018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19202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24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~99,441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39712" y="960120"/>
            <a:ext cx="19202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39712" y="1024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~96,096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39712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039112"/>
            <a:ext cx="19202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~32,951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9712" y="2039112"/>
            <a:ext cx="19202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9712" y="2103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R$ 13.6M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39712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GMV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657600"/>
            <a:ext cx="202996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~99,441 rows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4279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identities &amp; locations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23744" y="3657600"/>
            <a:ext cx="202996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15184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15184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~99,441 rows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15184" y="4279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&amp; status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3657600"/>
            <a:ext cx="202996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456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456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~112,650 rows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4279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items, pricing, sellers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76288" y="3657600"/>
            <a:ext cx="202996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67728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67728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~32,951 rows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67728" y="4279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&amp; attributes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Pipeline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1280160"/>
            <a:ext cx="1426464" cy="22860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1426464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1444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Acquire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9385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2400300"/>
            <a:ext cx="219456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01952" y="2331720"/>
            <a:ext cx="73152" cy="18288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56816" y="1280160"/>
            <a:ext cx="1426464" cy="2286000"/>
          </a:xfrm>
          <a:prstGeom prst="rect">
            <a:avLst/>
          </a:prstGeom>
          <a:solidFill>
            <a:srgbClr val="1E3A5F"/>
          </a:solidFill>
          <a:ln w="254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56816" y="1280160"/>
            <a:ext cx="1426464" cy="73152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444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19385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64992" y="2400300"/>
            <a:ext cx="219456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11296" y="2331720"/>
            <a:ext cx="73152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66160" y="1280160"/>
            <a:ext cx="1426464" cy="228600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66160" y="1280160"/>
            <a:ext cx="142646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21024" y="1444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9312" y="19385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74336" y="2400300"/>
            <a:ext cx="219456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0640" y="2331720"/>
            <a:ext cx="73152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75504" y="1280160"/>
            <a:ext cx="1426464" cy="2286000"/>
          </a:xfrm>
          <a:prstGeom prst="rect">
            <a:avLst/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75504" y="1280160"/>
            <a:ext cx="1426464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0368" y="1444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48656" y="19385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&amp; Fact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2400300"/>
            <a:ext cx="219456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9984" y="2331720"/>
            <a:ext cx="73152" cy="1828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84848" y="1280160"/>
            <a:ext cx="1426464" cy="2286000"/>
          </a:xfrm>
          <a:prstGeom prst="rect">
            <a:avLst/>
          </a:prstGeom>
          <a:solidFill>
            <a:srgbClr val="1E3A5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84848" y="1280160"/>
            <a:ext cx="1426464" cy="7315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39712" y="144475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19385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automated, validated, and documented — production-grade pipeline design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206240"/>
            <a:ext cx="15544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4206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48256" y="4206240"/>
            <a:ext cx="15544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48256" y="4206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206240"/>
            <a:ext cx="15544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49040" y="4206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9824" y="4206240"/>
            <a:ext cx="15544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9824" y="4206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50608" y="4206240"/>
            <a:ext cx="15544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50608" y="4206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3931920" cy="3840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3840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&amp; Fixed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73152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Timestamps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undelivered orders had null delivery dates — retained as valid lifecycle nulls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73152" cy="5943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Nulls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2569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~610 products had no category — imputed as 'uncategorized' to preserve revenue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73152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3741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rows with estimated delivery before purchase — removed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Name Casing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41788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Mixed-case city names standardised; whitespace stripped from all string fields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960120"/>
            <a:ext cx="4315968" cy="1828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62272" y="960120"/>
            <a:ext cx="64008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5152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 Summary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62272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Dropped: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79592" y="1481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38544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Corrected: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55864" y="1481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62272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Revenue/Payment Match: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79592" y="18105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38544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Found: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55864" y="18105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62272" y="2926080"/>
            <a:ext cx="4315968" cy="1874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62272" y="2926080"/>
            <a:ext cx="64008" cy="1874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45152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delivery_duration_days  (delivered − purchased)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3739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is_late_delivery  (delivered &gt; estimated)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4050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order_revenue  (sum of item prices per order)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4361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order_freight  (sum of freight per order)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Warehouse Design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743200" cy="3858768"/>
          </a:xfrm>
          <a:prstGeom prst="rect">
            <a:avLst/>
          </a:prstGeom>
          <a:solidFill>
            <a:srgbClr val="132238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743200" cy="475488"/>
          </a:xfrm>
          <a:prstGeom prst="rect">
            <a:avLst/>
          </a:prstGeom>
          <a:solidFill>
            <a:srgbClr val="94A3B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 loaded as-is into PostgreSQL staging tables. No transformations. Acts as an immutable source of truth for replay.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" y="2560320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25603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3072384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3072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" y="3584448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35844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stg_order_items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4096512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40965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stg_products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743200" cy="3858768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43200" cy="475488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15087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business-friendly lookup tables. Each dimension has a surrogate key (SK) for warehouse integrity.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10712" y="2560320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0712" y="25603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10712" y="3072384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0712" y="3072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3584448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0712" y="35844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4096512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40965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dim_sellers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960120"/>
            <a:ext cx="2743200" cy="3858768"/>
          </a:xfrm>
          <a:prstGeom prst="rect">
            <a:avLst/>
          </a:prstGeom>
          <a:solidFill>
            <a:srgbClr val="13223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44768" y="960120"/>
            <a:ext cx="2743200" cy="475488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15087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 tables by grain: order-level for KPIs and item-level for category/product analytics.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2560320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25603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072384"/>
            <a:ext cx="241401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072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2852928"/>
            <a:ext cx="13716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07608" y="2852928"/>
            <a:ext cx="13716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Dimensional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49040" y="1325880"/>
            <a:ext cx="2377440" cy="192024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49040" y="1325880"/>
            <a:ext cx="237744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49040" y="1380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58768" y="178308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order_sk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58768" y="19842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customer_sk (FK)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58768" y="21854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purchase_date_key (FK)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58768" y="23865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order_revenue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58768" y="258775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order_freight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58768" y="278892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delivery_duration_days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58768" y="29900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is_late_delivery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914400"/>
            <a:ext cx="2084832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914400"/>
            <a:ext cx="2084832" cy="329184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9509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3167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customer_sk (PK)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1572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18288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customer_state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59152" y="1581912"/>
            <a:ext cx="1389888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2084832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084832" cy="329184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0540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3484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(PK)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354626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783269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99370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168305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59152" y="3685032"/>
            <a:ext cx="1389888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914400"/>
            <a:ext cx="2084832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66560" y="914400"/>
            <a:ext cx="2084832" cy="329184"/>
          </a:xfrm>
          <a:prstGeom prst="rect">
            <a:avLst/>
          </a:prstGeom>
          <a:solidFill>
            <a:srgbClr val="48CAE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39712" y="9509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13167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product_sk (PK)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572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category_name_english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0" y="18288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avg_price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1581912"/>
            <a:ext cx="640080" cy="36576"/>
          </a:xfrm>
          <a:prstGeom prst="rect">
            <a:avLst/>
          </a:prstGeom>
          <a:solidFill>
            <a:srgbClr val="48CAE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66560" y="3017520"/>
            <a:ext cx="2084832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66560" y="3017520"/>
            <a:ext cx="2084832" cy="329184"/>
          </a:xfrm>
          <a:prstGeom prst="rect">
            <a:avLst/>
          </a:prstGeom>
          <a:solidFill>
            <a:srgbClr val="48CAE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39712" y="30540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dim_sellers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4198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seller_sk (PK)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58000" y="36758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seller_city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39319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3685032"/>
            <a:ext cx="640080" cy="36576"/>
          </a:xfrm>
          <a:prstGeom prst="rect">
            <a:avLst/>
          </a:prstGeom>
          <a:solidFill>
            <a:srgbClr val="48CAE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30752" y="3527978"/>
            <a:ext cx="237744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12464" y="3543053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  (item grain)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12464" y="379315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analytics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19472" y="3246120"/>
            <a:ext cx="36576" cy="265176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 — Metrics That Drive Decisions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029968" cy="3840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3840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463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(GMV)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2064" y="20299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MoM / YoY Growth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31638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YTD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37307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Value (incl. freight)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960120"/>
            <a:ext cx="2029968" cy="3840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23744" y="960120"/>
            <a:ext cx="64008" cy="3840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88336" y="1024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88336" y="1463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88336" y="20299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88336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88336" y="31638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88336" y="37307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 per Customer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0016" y="960120"/>
            <a:ext cx="2029968" cy="3840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960120"/>
            <a:ext cx="64008" cy="3840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1024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Ops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1463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20299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Duration (days)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1638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 vs On-Time Days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37307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Delivered Orders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76288" y="960120"/>
            <a:ext cx="2029968" cy="3840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76288" y="960120"/>
            <a:ext cx="64008" cy="38404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0" y="1024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1463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40880" y="20299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% of Total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 Price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40880" y="31638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 Sold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40880" y="37307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Sold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472744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implemented as DAX measures in Power BI with semantic model relationships — see DAX_measures.md for full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1: Executive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160020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600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R$ 13.6M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1517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 avg MoM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84832" y="987552"/>
            <a:ext cx="160020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84832" y="987552"/>
            <a:ext cx="1600200" cy="64008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84832" y="1097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84832" y="1517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8483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2016 – Sep 2018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22192" y="987552"/>
            <a:ext cx="160020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22192" y="987552"/>
            <a:ext cx="16002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22192" y="1097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22192" y="1517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2219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cancelled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59552" y="987552"/>
            <a:ext cx="160020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59552" y="987552"/>
            <a:ext cx="160020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59552" y="1097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1517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5955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−7.7% late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2148840"/>
            <a:ext cx="5394960" cy="263347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2148840"/>
            <a:ext cx="64008" cy="26334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33672" y="45136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Black Friday spike →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0352" y="4892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2016 – Sep 2018  |  Monthly revenue in BRL (scaled)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25312" y="2148840"/>
            <a:ext cx="2852928" cy="263347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925312" y="2148840"/>
            <a:ext cx="64008" cy="2633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08192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Categories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08192" y="2670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90688" y="2734056"/>
            <a:ext cx="1005840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90688" y="2734056"/>
            <a:ext cx="92202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631936" y="26700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08192" y="3090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790688" y="3154680"/>
            <a:ext cx="1005840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790688" y="3154680"/>
            <a:ext cx="8382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631936" y="30906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08192" y="3511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Bath &amp; Table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90688" y="3575304"/>
            <a:ext cx="1005840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790688" y="3575304"/>
            <a:ext cx="75438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631936" y="35112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08192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90688" y="3995928"/>
            <a:ext cx="1005840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790688" y="3995928"/>
            <a:ext cx="67056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631936" y="3931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108192" y="43525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90688" y="4416552"/>
            <a:ext cx="1005840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790688" y="4416552"/>
            <a:ext cx="58674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631936" y="4352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925312" y="48463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includes slicers for: year, quarter, state, category</a:t>
            </a:r>
            <a:endParaRPr lang="en-US" sz="850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22F51270-DC84-8CBF-6496-EDA59BFE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75" y="2491951"/>
            <a:ext cx="5022321" cy="2022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2: Sales &amp; Products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920240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192024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69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$ 15.8M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490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Iitem revenue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960120"/>
            <a:ext cx="1920240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95728" y="960120"/>
            <a:ext cx="1920240" cy="64008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95728" y="1069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1490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95728" y="1709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delivered orders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43984" y="960120"/>
            <a:ext cx="1920240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43984" y="96012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43984" y="1069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43984" y="1490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 Price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43984" y="1709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categories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92240" y="960120"/>
            <a:ext cx="2304288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960120"/>
            <a:ext cx="2304288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06984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149047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103120"/>
            <a:ext cx="5120640" cy="2743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103120"/>
            <a:ext cx="64008" cy="2743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194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— Top 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2606040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0" y="2606040"/>
            <a:ext cx="3185160" cy="1463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06440" y="2578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2825496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0" y="2825496"/>
            <a:ext cx="2953512" cy="1463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06440" y="27980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3017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Bath &amp; Table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0" y="3044952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0" y="3044952"/>
            <a:ext cx="2634996" cy="1463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06440" y="30175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3236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0" y="3264408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86000" y="3264408"/>
            <a:ext cx="2403348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06440" y="32369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0" y="3483864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86000" y="3483864"/>
            <a:ext cx="2055876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06440" y="34564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Decor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0" y="3703320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86000" y="3703320"/>
            <a:ext cx="1969008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06440" y="3675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Tools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0" y="3922776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86000" y="3922776"/>
            <a:ext cx="1216152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06440" y="38953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292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0" y="4142232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286000" y="4142232"/>
            <a:ext cx="1129284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806440" y="4114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2920" y="4334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86000" y="4361688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286000" y="4361688"/>
            <a:ext cx="1013460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06440" y="4334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292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Bags &amp; Acc.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0" y="4581144"/>
            <a:ext cx="3474720" cy="14630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286000" y="4581144"/>
            <a:ext cx="897636" cy="146304"/>
          </a:xfrm>
          <a:prstGeom prst="rect">
            <a:avLst/>
          </a:prstGeom>
          <a:solidFill>
            <a:srgbClr val="48CAE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806440" y="45537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650992" y="2103120"/>
            <a:ext cx="3127248" cy="126187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650992" y="2103120"/>
            <a:ext cx="64008" cy="12618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833872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Insights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833872" y="2542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unique sellers on platform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833872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sellers → ~50% of GMV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833872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Multi-seller orders: ~1% of all orders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650992" y="3493008"/>
            <a:ext cx="3127248" cy="135331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650992" y="3493008"/>
            <a:ext cx="64008" cy="135331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33872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833872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categories &lt; 2% of GMV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833872" y="4169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High-volume/low-value: Stationery, Garden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833872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outliers: orders up to R$ 13,440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833872" y="4645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~610 products mapped to 'uncategorized'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3: Customer Analytics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0848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2084832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Order/Customer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73168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960120"/>
            <a:ext cx="2084832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cs typeface="Calibri" pitchFamily="34" charset="-120"/>
              </a:rPr>
              <a:t>$137.75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73168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/ Customer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86016" y="960120"/>
            <a:ext cx="1828800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986016" y="960120"/>
            <a:ext cx="182880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86016" y="1069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cs typeface="Calibri" pitchFamily="34" charset="-120"/>
              </a:rPr>
              <a:t>137.75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6016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AOV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103120"/>
            <a:ext cx="4023360" cy="2743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103120"/>
            <a:ext cx="64008" cy="2743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Distribution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— São Paulo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12848" y="263347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12848" y="2633472"/>
            <a:ext cx="2389632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25786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— Rio de Janeiro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12848" y="299923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12848" y="2999232"/>
            <a:ext cx="739648" cy="18288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29443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— Minas Gerais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12848" y="336499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12848" y="3364992"/>
            <a:ext cx="682752" cy="18288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3101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— Rio Grande do Sul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12848" y="373075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12848" y="3730752"/>
            <a:ext cx="341376" cy="1828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6758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— Paraná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12848" y="409651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12848" y="4096512"/>
            <a:ext cx="284480" cy="1828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40416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12848" y="4462272"/>
            <a:ext cx="2560320" cy="182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12848" y="4462272"/>
            <a:ext cx="1251712" cy="1828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28032" y="44074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53712" y="2103120"/>
            <a:ext cx="4224528" cy="13258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53712" y="210312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36592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customers made only ONE purchase — high acquisition dependency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36592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installments dominant; avg ~3 months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36592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buyers have higher AOV than cash buyers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53712" y="3566160"/>
            <a:ext cx="4224528" cy="1280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53712" y="3566160"/>
            <a:ext cx="64008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36592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Opportunity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36592" y="4005072"/>
            <a:ext cx="329184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101584" y="4005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  96,096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36592" y="4279392"/>
            <a:ext cx="658368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68112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2nd Order  2,883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4553712"/>
            <a:ext cx="109728" cy="201168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19472" y="4553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3rd Order  288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736592" y="4645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2–3% improvement in 90-day repeat rate → +R$ 400–600K GMV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4: Delivery &amp; Logistics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084832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95%+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2084832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 14% in Nov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73168" y="960120"/>
            <a:ext cx="2084832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960120"/>
            <a:ext cx="20848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10698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73168" y="14904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3168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delivered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86016" y="960120"/>
            <a:ext cx="1828800" cy="98755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986016" y="960120"/>
            <a:ext cx="18288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86016" y="1069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cs typeface="Calibri" pitchFamily="34" charset="-120"/>
              </a:rPr>
              <a:t>99k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86016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Total orders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7472" y="2103120"/>
            <a:ext cx="5120640" cy="276148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103120"/>
            <a:ext cx="64008" cy="2761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194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Delivery Duration Distribution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650992" y="2374613"/>
            <a:ext cx="155448" cy="22185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5EF4285-B91B-93BD-8CC7-D4BFFD40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23744"/>
            <a:ext cx="4473146" cy="224920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629D279-13F6-8FD6-3C96-2DAFF95A6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620" y="2374613"/>
            <a:ext cx="3154062" cy="22185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87952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0881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0881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Dominance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50876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2017 revenue was ~2.4× the October baseline — the single largest month in the dataset. Q4 logistics pressure is the biggest operational risk.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0016" y="960120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0016" y="960120"/>
            <a:ext cx="41879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0881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0096" y="10881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Concentration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50876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all revenue comes from SP. The North &amp; Northeast regions are under-served relative to population — demand exists but freight cost suppresses conversion.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633472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633472"/>
            <a:ext cx="4187952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27614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Crisis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3182112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customers return for a second purchase. The business is almost entirely acquisition-driven — a structured post-purchase email programme could add R$ 400–600K to annual GMV.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0016" y="2633472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0016" y="2633472"/>
            <a:ext cx="4187952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614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0096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Improving But Lagging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3182112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fell from 15 to 10 days over 2 years. On-time rate of 92.3% remains below the 95%+ e-commerce benchmark, especially in remote regions.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4306824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4306824"/>
            <a:ext cx="4187952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" y="44348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7552" y="4434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Concentration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855464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account for ~45% of GMV. Bottom 10 categories generate &lt; 2% combined — candidates for rationalisation to reduce operational overhead.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4306824"/>
            <a:ext cx="4187952" cy="1536192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0016" y="4306824"/>
            <a:ext cx="4187952" cy="64008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37176" y="44348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0096" y="4434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 Drive Basket 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4855464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installment payments dominate (~3 months avg). Customers using installments show measurably higher AOV — promoting installments in high-value categories could lift revenue.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8449056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1188720" cy="310896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051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2527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columns stored as VARCHAR in source CSVs. Required explicit parsing with error handling to avoid silent failures.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74920" y="1389888"/>
            <a:ext cx="2743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2344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051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40680" y="12527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`pd.to_datetime()` with `errors='coerce'` and post-parse validation to catch and flag unparseable values.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965960"/>
            <a:ext cx="8449056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196596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231136"/>
            <a:ext cx="1188720" cy="31089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2311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Grain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74520" y="20574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74520" y="22585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design used only order-grain (fact_orders). Product/category analytics were impossible — aggregations crossed the wrong grain.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4920" y="2395728"/>
            <a:ext cx="2743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057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40680" y="22585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second fact table (fact_order_items) at item grain. fact_orders retained for KPI cards; fact_order_items used for all product analytics.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971800"/>
            <a:ext cx="8449056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971800"/>
            <a:ext cx="64008" cy="9144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3236976"/>
            <a:ext cx="1188720" cy="310896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236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74520" y="30632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74520" y="32644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 needed a date dimension link but shared purchase_date_key with fact_orders, causing ambiguous relationship errors.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74920" y="3401568"/>
            <a:ext cx="27432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2461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0632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40680" y="3264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inactive relationships with USERELATIONSHIP() in DAX for item-level date filtering. Bidirectional cross-filter disabled globally to avoid fan-trap issues.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3977640"/>
            <a:ext cx="8449056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397764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" y="4242816"/>
            <a:ext cx="1188720" cy="31089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2428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Strategy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74520" y="406908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74520" y="427024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null delivery timestamps were initially flagged as errors, threatening to drop valid in-progress or cancelled orders.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74920" y="4407408"/>
            <a:ext cx="2743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42519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40680" y="4069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0680" y="42702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 nulls as expected lifecycle states. Null = 'not yet reached this stage'. Delivery KPIs explicitly filtered to `order_status = 'delivered'`.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066544" cy="39776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64008" cy="3977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0424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2064" y="1499616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dataset download via CLI authentication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2064" y="2615184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29809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scripting language across all pipeline stages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960120"/>
            <a:ext cx="2066544" cy="39776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0" y="96012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24912" y="10424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24912" y="1499616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98064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98064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operations, null handling, feature engineering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24912" y="2615184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98064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98064" y="29809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and array-level validations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24912" y="3730752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98064" y="3803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98064" y="40965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ORM-based PostgreSQL connection and table operations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73168" y="960120"/>
            <a:ext cx="2066544" cy="39776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960120"/>
            <a:ext cx="64008" cy="3977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10424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1499616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relational warehouse with full SQL analytics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2615184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(DDL/DML)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10912" y="29809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dimension, and fact table creation &amp; population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86016" y="960120"/>
            <a:ext cx="2066544" cy="39776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86016" y="960120"/>
            <a:ext cx="64008" cy="3977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0608" y="10424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Visualisation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50608" y="1499616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2376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with slicers and drill-through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50608" y="2615184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29809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custom measures: revenue, delivery, customer KPIs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50608" y="3730752"/>
            <a:ext cx="1719072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23760" y="3803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40965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with surrogate keys &amp; relationships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industry-standard for the modern data analyst &amp; analytics engineer stack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48CAE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3200400"/>
            <a:ext cx="2231136" cy="1481328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3200400"/>
            <a:ext cx="2231136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310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Olist Brazilian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Public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84448" y="3200400"/>
            <a:ext cx="2231136" cy="1481328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84448" y="3200400"/>
            <a:ext cx="2231136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3310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94176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Star Schema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3200400"/>
            <a:ext cx="2231136" cy="1481328"/>
          </a:xfrm>
          <a:prstGeom prst="rect">
            <a:avLst/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3200400"/>
            <a:ext cx="2231136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71616" y="3310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data_quality_report.md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DAX_measures.md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1809</Words>
  <Application>Microsoft Office PowerPoint</Application>
  <PresentationFormat>On-screen Show (16:9)</PresentationFormat>
  <Paragraphs>385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 — Portfolio Presentation</dc:title>
  <dc:subject>PptxGenJS Presentation</dc:subject>
  <dc:creator>Analytics Engineering</dc:creator>
  <cp:lastModifiedBy>Hadi Assi</cp:lastModifiedBy>
  <cp:revision>6</cp:revision>
  <dcterms:created xsi:type="dcterms:W3CDTF">2026-05-28T20:20:39Z</dcterms:created>
  <dcterms:modified xsi:type="dcterms:W3CDTF">2026-05-29T08:51:07Z</dcterms:modified>
</cp:coreProperties>
</file>